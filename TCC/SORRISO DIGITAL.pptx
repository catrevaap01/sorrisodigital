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7" r:id="rId8"/>
    <p:sldId id="262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57748-90DB-C170-1B6E-3B1269F1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3AE7A7-99C5-32BA-3CC7-64418BDA6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A006D51-0FF3-320C-1580-ADBEB370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649D167-CE61-210B-57EF-D51D76AA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F08156-CBB7-F2CD-A7E9-0DB37A2D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530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82617-15DB-6B14-E836-E6049291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B2AFA80-F556-4A7C-F1C3-02A4E0273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B2CC6F2-BC54-B105-BA5A-E1F4CD87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A717B33-F16F-46AF-FDDD-91E990C4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8C961E5-C39E-0444-2653-6C650B6B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752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0006D-B5F8-45D8-83CE-48425ACD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A85D216-996D-DC33-E7B9-971E38A92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1D8FA7D-759C-76F1-678F-B6DF6D40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18E0850-CCF2-1FE3-56D2-90605E0C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B9E83D9-1C57-3D1D-116E-206026CB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114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4CEF-B0DB-0587-357D-480A0745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03E9F2-C102-FCB9-F597-E9864159B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FB95640-84BC-75A5-7066-483A16A29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3F1A5D9-5380-C811-FEA2-126A6A8B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2988589-7107-529E-A991-58EAC0AC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1BA0095-7786-D174-890E-7962A41F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585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9A40C-C4F3-16FD-CBF8-2F8AE45E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9BF443C-35CF-5F6E-1EB1-9641D7608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4E49C69-A674-DC69-3D9F-126639C1D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84AAD4C-0736-B82C-057F-2A53D99EF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651038F-C11B-0F4F-7FD9-3A4200D05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9ECC6BA-7691-8EA5-AD6D-32F032A8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5120CB0-E828-DE7F-9AAF-9594E476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8B5D057-47BD-946C-1B9A-11B51D4B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469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B0529-DF16-DE69-2F46-F85C584B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57AF6A5-71E4-6206-937C-3EB82A5A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85425F1-1747-D93E-15BC-FE116434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2FB8BD1-F368-F60A-E57A-CF068F55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84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D837676-BBE0-4753-86E5-836498AA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A34DF28-0484-0809-D14D-43EE0837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33014E2-C897-CE97-33D7-C0C22C7C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60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F15A3-61AE-A0C0-0395-33338028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A2AD2C5-C731-299D-2569-91D04221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DA0AE92-6EB3-C74A-67B3-6652C2939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FD6DCB8-A028-4BF5-6856-9CF41E57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5301E40-F514-BCA3-478E-88D72F21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4D0BDA5-F090-CA27-8FDC-73E81626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544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03B77-9769-C2B0-D4D2-D4328BBF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DEC1C38-A414-ECCA-0D6B-C3A417FFA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80AADD2-A5F9-D519-2969-DB126B8D4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C9DA45C-0A76-2BE6-E6DF-EC5B7B7A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CC2D871-556B-9362-14E9-A42644F9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3567E06-BBCE-22CF-6B8F-1D5EE4BD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748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50B80-7831-65C7-846A-112C361B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B6964E4-3B3E-1795-79E4-3AF81AB8C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A993D08-A66F-E36B-078F-8FED1315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F133A3E-2ED7-AD1F-D9B8-890870E6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D45DC8-0C5E-3B27-7F70-069F26E6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885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3A0748-AB3E-A264-DC3B-A6814A536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932D3CD-3BC0-CC16-3F08-DAC540B31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416F27A-4BF0-BF0B-68C0-26761158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F2B772E-727B-4314-E4DE-4A5AB89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77E50F4-9748-8E93-6E29-F2E5D754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546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0375173-F1E1-824D-6489-74A0A8E97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06C622A-85D5-23D5-58A0-15DBB6D4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70DDD55-6E76-B4E8-B4DA-ED99DE705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FE16D-047C-4616-9E10-5161C06B63D6}" type="datetimeFigureOut">
              <a:rPr lang="pt-PT" smtClean="0"/>
              <a:t>22/10/2026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BCDA07-771D-7BAF-9AB2-F96366EC5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653BB25-3A3F-1A0D-46DE-A6AE00705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4DE89-DE5B-4D24-8568-D6AA9F8F01E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1392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B66AF6-8570-62CA-24D7-736E4ADB47D7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4C89F89-8DEA-9D43-8AEF-C76D4FEECA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911" y="0"/>
            <a:ext cx="8133453" cy="19976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4"/>
          <p:cNvSpPr txBox="1"/>
          <p:nvPr/>
        </p:nvSpPr>
        <p:spPr>
          <a:xfrm>
            <a:off x="1725636" y="1794223"/>
            <a:ext cx="10120525" cy="406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DEPARTAMENTO DE CIÊNCIAS DA ENGENHARIA E TECNOLOGIAS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7B8C2F8-BD3D-8016-4795-778F8AF9EC90}"/>
              </a:ext>
            </a:extLst>
          </p:cNvPr>
          <p:cNvSpPr txBox="1"/>
          <p:nvPr/>
        </p:nvSpPr>
        <p:spPr>
          <a:xfrm>
            <a:off x="2011133" y="4783609"/>
            <a:ext cx="4388504" cy="1407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Autor:  António Pio </a:t>
            </a:r>
            <a:r>
              <a:rPr lang="en-US" sz="2000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M.Tati</a:t>
            </a:r>
            <a:endParaRPr lang="en-US" sz="2000" dirty="0">
              <a:solidFill>
                <a:srgbClr val="000000"/>
              </a:solidFill>
              <a:latin typeface="Trocchi"/>
              <a:ea typeface="Trocchi"/>
              <a:cs typeface="Trocchi"/>
              <a:sym typeface="Trocchi"/>
            </a:endParaRP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Curso: Engenharia </a:t>
            </a:r>
            <a:r>
              <a:rPr lang="en-US" sz="2000" dirty="0" err="1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Informática</a:t>
            </a:r>
            <a:endParaRPr lang="en-US" sz="2000" dirty="0">
              <a:solidFill>
                <a:srgbClr val="000000"/>
              </a:solidFill>
              <a:latin typeface="Trocchi"/>
              <a:ea typeface="Trocchi"/>
              <a:cs typeface="Trocchi"/>
              <a:sym typeface="Trocchi"/>
            </a:endParaRP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rocchi"/>
                <a:ea typeface="Trocchi"/>
                <a:cs typeface="Trocchi"/>
                <a:sym typeface="Trocchi"/>
              </a:rPr>
              <a:t>Orientador: Engº 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DF502E1-87E8-7C65-99CE-B47ECB956DEF}"/>
              </a:ext>
            </a:extLst>
          </p:cNvPr>
          <p:cNvSpPr txBox="1"/>
          <p:nvPr/>
        </p:nvSpPr>
        <p:spPr>
          <a:xfrm>
            <a:off x="2332911" y="2628781"/>
            <a:ext cx="928356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  <a:latin typeface="Trocchi"/>
                <a:ea typeface="Trocchi"/>
                <a:cs typeface="Trocchi"/>
                <a:sym typeface="Trocchi"/>
              </a:rPr>
              <a:t>TÍTULO: </a:t>
            </a:r>
            <a:r>
              <a:rPr lang="pt-PT" sz="2400" b="1" dirty="0">
                <a:solidFill>
                  <a:schemeClr val="accent1"/>
                </a:solidFill>
              </a:rPr>
              <a:t>DESENVOLVIMENTO DE UMA APLICAÇÃO MÓVEL PARA GESTÃO E AGENDAMENTO DE CONSULTAS ODONTOLÓGICAS </a:t>
            </a:r>
          </a:p>
          <a:p>
            <a:pPr algn="just"/>
            <a:endParaRPr lang="pt-PT" sz="2400" b="1" dirty="0">
              <a:solidFill>
                <a:schemeClr val="accent1"/>
              </a:solidFill>
            </a:endParaRPr>
          </a:p>
          <a:p>
            <a:pPr algn="ctr"/>
            <a:r>
              <a:rPr lang="pt-PT" sz="2400" b="1" dirty="0">
                <a:solidFill>
                  <a:schemeClr val="accent1"/>
                </a:solidFill>
              </a:rPr>
              <a:t>“SORRISO DIGITAL”</a:t>
            </a:r>
            <a:endParaRPr lang="pt-PT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50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52A0-5C0D-1B6A-A9E5-98BE1C17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23CCFFD7-D1CE-0FFF-FC03-4209D870E883}"/>
              </a:ext>
            </a:extLst>
          </p:cNvPr>
          <p:cNvSpPr txBox="1"/>
          <p:nvPr/>
        </p:nvSpPr>
        <p:spPr>
          <a:xfrm>
            <a:off x="1076176" y="837620"/>
            <a:ext cx="10120525" cy="511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SUMÁRIO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6E7D3BD-B7DC-1CAD-BBAE-BF4982E2F01F}"/>
              </a:ext>
            </a:extLst>
          </p:cNvPr>
          <p:cNvSpPr/>
          <p:nvPr/>
        </p:nvSpPr>
        <p:spPr>
          <a:xfrm>
            <a:off x="10745375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2Righ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B66EDA7-3184-B17A-2155-210B61926F3C}"/>
              </a:ext>
            </a:extLst>
          </p:cNvPr>
          <p:cNvSpPr/>
          <p:nvPr/>
        </p:nvSpPr>
        <p:spPr>
          <a:xfrm>
            <a:off x="-323559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363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CFAA-208F-43A6-8C8D-732B592F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6B606BA-6AC9-7FED-83C6-AB7DE6664193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60BB7431-E94F-2BD6-45C8-ACE7006C00C4}"/>
              </a:ext>
            </a:extLst>
          </p:cNvPr>
          <p:cNvSpPr txBox="1"/>
          <p:nvPr/>
        </p:nvSpPr>
        <p:spPr>
          <a:xfrm>
            <a:off x="4628270" y="598469"/>
            <a:ext cx="3896751" cy="458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INTRODUÇÃO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909662-CD2F-A95E-B99F-E390C9993DE3}"/>
              </a:ext>
            </a:extLst>
          </p:cNvPr>
          <p:cNvSpPr txBox="1"/>
          <p:nvPr/>
        </p:nvSpPr>
        <p:spPr>
          <a:xfrm>
            <a:off x="1570891" y="2651149"/>
            <a:ext cx="49705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A medicina dentária passa por profundas transformações impulsionadas pela </a:t>
            </a:r>
            <a:r>
              <a:rPr lang="pt-PT" b="1" i="0" dirty="0">
                <a:solidFill>
                  <a:srgbClr val="0284C7"/>
                </a:solidFill>
                <a:effectLst/>
                <a:latin typeface="Segoe UI" panose="020B0502040204020203" pitchFamily="34" charset="0"/>
              </a:rPr>
              <a:t>revolução digital na saúde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, que visa assegurar maior precisão, ergonomia e eficiência operacional.</a:t>
            </a:r>
          </a:p>
          <a:p>
            <a:pPr algn="just">
              <a:buNone/>
            </a:pPr>
            <a:endParaRPr lang="pt-PT" b="0" i="0" dirty="0">
              <a:solidFill>
                <a:srgbClr val="334155"/>
              </a:solidFill>
              <a:effectLst/>
              <a:latin typeface="Segoe UI" panose="020B0502040204020203" pitchFamily="34" charset="0"/>
            </a:endParaRPr>
          </a:p>
          <a:p>
            <a:pPr algn="just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Contudo, uma parcela significativa das clínicas ainda enfrenta o desafio de abandonar fluxos estritamente manuais ou baseados em sistemas fragmentados e isolados.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52B029C-1157-22DF-F6CC-57CB33925573}"/>
              </a:ext>
            </a:extLst>
          </p:cNvPr>
          <p:cNvSpPr txBox="1"/>
          <p:nvPr/>
        </p:nvSpPr>
        <p:spPr>
          <a:xfrm>
            <a:off x="6907238" y="2702454"/>
            <a:ext cx="5092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Em </a:t>
            </a:r>
            <a:r>
              <a:rPr lang="pt-PT" b="1" i="0" dirty="0">
                <a:solidFill>
                  <a:srgbClr val="0070C0"/>
                </a:solidFill>
                <a:effectLst/>
                <a:latin typeface="Segoe UI" panose="020B0502040204020203" pitchFamily="34" charset="0"/>
              </a:rPr>
              <a:t>Angola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, a adoção de sistemas específicos de gestão para consultórios odontológicos ainda é limitada.</a:t>
            </a:r>
          </a:p>
          <a:p>
            <a:pPr algn="just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Muitas unidades de saúde recorrem a métodos analógicos, o que </a:t>
            </a:r>
            <a:r>
              <a:rPr lang="pt-PT" b="1" i="0" dirty="0">
                <a:solidFill>
                  <a:srgbClr val="0070C0"/>
                </a:solidFill>
                <a:effectLst/>
                <a:latin typeface="Segoe UI" panose="020B0502040204020203" pitchFamily="34" charset="0"/>
              </a:rPr>
              <a:t>dificulta a otimização de processos 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e a </a:t>
            </a:r>
            <a:r>
              <a:rPr lang="pt-PT" b="1" i="0" dirty="0">
                <a:solidFill>
                  <a:srgbClr val="0070C0"/>
                </a:solidFill>
                <a:effectLst/>
                <a:latin typeface="Segoe UI" panose="020B0502040204020203" pitchFamily="34" charset="0"/>
              </a:rPr>
              <a:t>prestação de serviços eficientes 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num cenário onde a distribuição de recursos é assimétrica.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CF9A118-BFC7-95D2-2695-AEF208F92D00}"/>
              </a:ext>
            </a:extLst>
          </p:cNvPr>
          <p:cNvSpPr/>
          <p:nvPr/>
        </p:nvSpPr>
        <p:spPr>
          <a:xfrm>
            <a:off x="6668087" y="2757996"/>
            <a:ext cx="112541" cy="230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1CD5E3C-FC37-6236-7E83-848898400C7E}"/>
              </a:ext>
            </a:extLst>
          </p:cNvPr>
          <p:cNvSpPr txBox="1"/>
          <p:nvPr/>
        </p:nvSpPr>
        <p:spPr>
          <a:xfrm>
            <a:off x="6907238" y="2281817"/>
            <a:ext cx="3046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0070C0"/>
                </a:solidFill>
                <a:effectLst/>
                <a:latin typeface="Segoe UI" panose="020B0502040204020203" pitchFamily="34" charset="0"/>
              </a:rPr>
              <a:t>O CONTEXTO ANGOLANO</a:t>
            </a:r>
          </a:p>
        </p:txBody>
      </p:sp>
    </p:spTree>
    <p:extLst>
      <p:ext uri="{BB962C8B-B14F-4D97-AF65-F5344CB8AC3E}">
        <p14:creationId xmlns:p14="http://schemas.microsoft.com/office/powerpoint/2010/main" val="262234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91F2-E0CF-338B-9215-AB486814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52D4716-1CA0-46F5-F6B0-6D578FDA7B74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C396759-2628-F522-2E90-79294B8BAF1F}"/>
              </a:ext>
            </a:extLst>
          </p:cNvPr>
          <p:cNvSpPr txBox="1"/>
          <p:nvPr/>
        </p:nvSpPr>
        <p:spPr>
          <a:xfrm>
            <a:off x="2574389" y="578709"/>
            <a:ext cx="8454682" cy="457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PROBLEMA DE INVESTIGAÇÃO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E72525-2375-ED0C-AA92-D9627B6E6073}"/>
              </a:ext>
            </a:extLst>
          </p:cNvPr>
          <p:cNvSpPr txBox="1"/>
          <p:nvPr/>
        </p:nvSpPr>
        <p:spPr>
          <a:xfrm>
            <a:off x="1950719" y="2533804"/>
            <a:ext cx="9401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2400" b="0" i="1" dirty="0">
                <a:effectLst/>
                <a:latin typeface="Segoe UI" panose="020B0502040204020203" pitchFamily="34" charset="0"/>
              </a:rPr>
              <a:t>"Como uma plataforma digital integrada pode ajudar a melhorar a gestão clínica, administrativa e financeira da clínica odontológica </a:t>
            </a:r>
            <a:r>
              <a:rPr lang="pt-PT" sz="2400" b="0" i="1" dirty="0" err="1">
                <a:effectLst/>
                <a:latin typeface="Segoe UI" panose="020B0502040204020203" pitchFamily="34" charset="0"/>
              </a:rPr>
              <a:t>one</a:t>
            </a:r>
            <a:r>
              <a:rPr lang="pt-PT" sz="2400" b="0" i="1" dirty="0">
                <a:effectLst/>
                <a:latin typeface="Segoe UI" panose="020B0502040204020203" pitchFamily="34" charset="0"/>
              </a:rPr>
              <a:t> </a:t>
            </a:r>
            <a:r>
              <a:rPr lang="pt-PT" sz="2400" b="0" i="1" dirty="0" err="1">
                <a:effectLst/>
                <a:latin typeface="Segoe UI" panose="020B0502040204020203" pitchFamily="34" charset="0"/>
              </a:rPr>
              <a:t>smille</a:t>
            </a:r>
            <a:r>
              <a:rPr lang="pt-PT" sz="2400" b="0" i="1" dirty="0">
                <a:effectLst/>
                <a:latin typeface="Segoe UI" panose="020B0502040204020203" pitchFamily="34" charset="0"/>
              </a:rPr>
              <a:t> </a:t>
            </a:r>
            <a:r>
              <a:rPr lang="pt-PT" sz="2400" b="0" i="1" dirty="0" err="1">
                <a:effectLst/>
                <a:latin typeface="Segoe UI" panose="020B0502040204020203" pitchFamily="34" charset="0"/>
              </a:rPr>
              <a:t>Consultória</a:t>
            </a:r>
            <a:r>
              <a:rPr lang="pt-PT" sz="2400" b="0" i="1" dirty="0">
                <a:effectLst/>
                <a:latin typeface="Segoe UI" panose="020B0502040204020203" pitchFamily="34" charset="0"/>
              </a:rPr>
              <a:t> Dentária?"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34345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92AE-70B0-F364-3AA9-C902140D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73AFD79-8CCF-DFE3-394D-C7E92446F9D1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676CB0B7-9808-5C16-358C-E05B9ECFFC2A}"/>
              </a:ext>
            </a:extLst>
          </p:cNvPr>
          <p:cNvSpPr txBox="1"/>
          <p:nvPr/>
        </p:nvSpPr>
        <p:spPr>
          <a:xfrm>
            <a:off x="2574389" y="578709"/>
            <a:ext cx="732926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OBJECTIVO GERAL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ABA8CC-9721-804F-BEB1-056A3250AD5A}"/>
              </a:ext>
            </a:extLst>
          </p:cNvPr>
          <p:cNvSpPr txBox="1"/>
          <p:nvPr/>
        </p:nvSpPr>
        <p:spPr>
          <a:xfrm>
            <a:off x="1725636" y="1474821"/>
            <a:ext cx="92846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Criar uma plataforma digital completa, designada </a:t>
            </a:r>
            <a:r>
              <a:rPr lang="pt-PT" sz="2000" b="1" i="0" dirty="0">
                <a:solidFill>
                  <a:srgbClr val="0284C7"/>
                </a:solidFill>
                <a:effectLst/>
                <a:latin typeface="Segoe UI" panose="020B0502040204020203" pitchFamily="34" charset="0"/>
              </a:rPr>
              <a:t>Sorriso Digital</a:t>
            </a: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, para automatizar processos clínicos, administrativos e financeiros, melhorando a qualidade do atendimento aos pacientes e a operação da clínica.</a:t>
            </a:r>
            <a:endParaRPr lang="pt-PT" sz="2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6AF3FC-602E-AFFB-675C-14E22240D768}"/>
              </a:ext>
            </a:extLst>
          </p:cNvPr>
          <p:cNvSpPr txBox="1"/>
          <p:nvPr/>
        </p:nvSpPr>
        <p:spPr>
          <a:xfrm>
            <a:off x="2096087" y="3444187"/>
            <a:ext cx="91862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Modelar o sistema utilizando diagramas UML e Entidade-Relacionamento (DER).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Criar módulos de gestão de utilizadores com diferentes níveis de acesso.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Desenvolver a funcionalidade de triagem digital e agendamento de consultas.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Implementar o prontuário eletrónico, registo de evoluções e prescrições.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Criar o controlo financeiro e um sistema interno de comunicação (chat).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FB277C-3FAD-563A-3DB9-E5AE4FEBD424}"/>
              </a:ext>
            </a:extLst>
          </p:cNvPr>
          <p:cNvSpPr txBox="1"/>
          <p:nvPr/>
        </p:nvSpPr>
        <p:spPr>
          <a:xfrm>
            <a:off x="1852245" y="2767482"/>
            <a:ext cx="6166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3600" b="1" i="0" dirty="0">
                <a:solidFill>
                  <a:schemeClr val="accent1"/>
                </a:solidFill>
                <a:effectLst/>
                <a:latin typeface="Segoe UI" panose="020B0502040204020203" pitchFamily="34" charset="0"/>
              </a:rPr>
              <a:t>OBJETIVOS ESPECÍFICOS</a:t>
            </a:r>
            <a:endParaRPr lang="pt-PT" sz="3200" b="1" i="0" dirty="0">
              <a:solidFill>
                <a:schemeClr val="accent1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3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8813-8DE3-2F73-F89F-A5A5142B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4165C2C-9A3C-3BBD-B58D-8DAAA0A5FDF6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14147FA-38AB-08A8-B6F5-4A1EF2C14A60}"/>
              </a:ext>
            </a:extLst>
          </p:cNvPr>
          <p:cNvSpPr txBox="1"/>
          <p:nvPr/>
        </p:nvSpPr>
        <p:spPr>
          <a:xfrm>
            <a:off x="4628270" y="598469"/>
            <a:ext cx="4234375" cy="458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JUSTIFICATIVA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15B4F2-68E9-AA90-CB69-9305454970E5}"/>
              </a:ext>
            </a:extLst>
          </p:cNvPr>
          <p:cNvSpPr txBox="1"/>
          <p:nvPr/>
        </p:nvSpPr>
        <p:spPr>
          <a:xfrm>
            <a:off x="1725636" y="1571117"/>
            <a:ext cx="9509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O uso de registos em papel e sistemas defasados resulta em </a:t>
            </a:r>
            <a:r>
              <a:rPr lang="pt-PT" b="1" i="0" dirty="0">
                <a:solidFill>
                  <a:srgbClr val="0284C7"/>
                </a:solidFill>
                <a:effectLst/>
                <a:latin typeface="Segoe UI" panose="020B0502040204020203" pitchFamily="34" charset="0"/>
              </a:rPr>
              <a:t>perda de documentos, falhas na comunicação, desorganização financeira e lentidão no atendimento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.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D453BC-99F8-83D6-8A5C-0615B2403452}"/>
              </a:ext>
            </a:extLst>
          </p:cNvPr>
          <p:cNvSpPr/>
          <p:nvPr/>
        </p:nvSpPr>
        <p:spPr>
          <a:xfrm>
            <a:off x="2222696" y="2855743"/>
            <a:ext cx="112541" cy="2308324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537A9F-722B-D0DA-39F8-F0AD6E0825D7}"/>
              </a:ext>
            </a:extLst>
          </p:cNvPr>
          <p:cNvSpPr txBox="1"/>
          <p:nvPr/>
        </p:nvSpPr>
        <p:spPr>
          <a:xfrm>
            <a:off x="2335237" y="2855742"/>
            <a:ext cx="44629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0F172A"/>
                </a:solidFill>
                <a:effectLst/>
                <a:latin typeface="Segoe UI" panose="020B0502040204020203" pitchFamily="34" charset="0"/>
              </a:rPr>
              <a:t>O Problema Atual</a:t>
            </a:r>
          </a:p>
          <a:p>
            <a:pPr algn="l">
              <a:buNone/>
            </a:pPr>
            <a:endParaRPr lang="pt-PT" b="1" i="0" dirty="0">
              <a:solidFill>
                <a:srgbClr val="0F172A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Dificuldade no controlo de </a:t>
            </a:r>
            <a:endParaRPr lang="pt-PT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pPr algn="l"/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agendamentos.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Desorganização no acompanhamento </a:t>
            </a:r>
          </a:p>
          <a:p>
            <a:pPr algn="l"/>
            <a:r>
              <a:rPr lang="pt-PT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do paciente.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Baixa eficiência operacional no dia-a-dia </a:t>
            </a:r>
          </a:p>
          <a:p>
            <a:pPr algn="l"/>
            <a:r>
              <a:rPr lang="pt-PT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da clínica.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2191D4-1DC0-B420-1A07-86B0DDFBA9D2}"/>
              </a:ext>
            </a:extLst>
          </p:cNvPr>
          <p:cNvSpPr/>
          <p:nvPr/>
        </p:nvSpPr>
        <p:spPr>
          <a:xfrm>
            <a:off x="6741943" y="2855742"/>
            <a:ext cx="112541" cy="2308324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B72C31-1AEC-5777-A32D-277B8DB14AB8}"/>
              </a:ext>
            </a:extLst>
          </p:cNvPr>
          <p:cNvSpPr txBox="1"/>
          <p:nvPr/>
        </p:nvSpPr>
        <p:spPr>
          <a:xfrm>
            <a:off x="6854484" y="2855742"/>
            <a:ext cx="39354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0F172A"/>
                </a:solidFill>
                <a:effectLst/>
                <a:latin typeface="Segoe UI" panose="020B0502040204020203" pitchFamily="34" charset="0"/>
              </a:rPr>
              <a:t>A Solução Tecnológica</a:t>
            </a:r>
          </a:p>
          <a:p>
            <a:pPr algn="l">
              <a:buNone/>
            </a:pPr>
            <a:endParaRPr lang="pt-PT" b="1" i="0" dirty="0">
              <a:solidFill>
                <a:srgbClr val="0F172A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Automatização de processos </a:t>
            </a:r>
          </a:p>
          <a:p>
            <a:pPr algn="l"/>
            <a:r>
              <a:rPr lang="pt-PT" dirty="0">
                <a:solidFill>
                  <a:srgbClr val="334155"/>
                </a:solidFill>
                <a:latin typeface="Segoe UI" panose="020B0502040204020203" pitchFamily="34" charset="0"/>
              </a:rPr>
              <a:t>  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administrativos e clínicos.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Redução drástica de erros             humanos.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Acesso rápido ao histórico clínico</a:t>
            </a:r>
          </a:p>
          <a:p>
            <a:pPr algn="l"/>
            <a:r>
              <a:rPr lang="pt-PT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(Prontuário Eletrónico).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E3AA51-0336-1700-FCD3-ACF1704B3486}"/>
              </a:ext>
            </a:extLst>
          </p:cNvPr>
          <p:cNvSpPr txBox="1"/>
          <p:nvPr/>
        </p:nvSpPr>
        <p:spPr>
          <a:xfrm>
            <a:off x="1725636" y="5802360"/>
            <a:ext cx="10592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Implementar um sistema digital deixou de ser um luxo para se tornar uma </a:t>
            </a:r>
            <a:r>
              <a:rPr lang="pt-PT" b="1" i="0" dirty="0">
                <a:solidFill>
                  <a:srgbClr val="0284C7"/>
                </a:solidFill>
                <a:effectLst/>
                <a:latin typeface="Segoe UI" panose="020B0502040204020203" pitchFamily="34" charset="0"/>
              </a:rPr>
              <a:t>necessidade estratégica</a:t>
            </a:r>
            <a:r>
              <a:rPr lang="pt-PT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7307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A74A-4DB5-52DA-AB26-3798DFF7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6258625-D6A9-AF64-4827-158C50563E11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B7CBB34-9DBC-9134-5058-7DCDCD6783B2}"/>
              </a:ext>
            </a:extLst>
          </p:cNvPr>
          <p:cNvSpPr txBox="1"/>
          <p:nvPr/>
        </p:nvSpPr>
        <p:spPr>
          <a:xfrm>
            <a:off x="2518117" y="598469"/>
            <a:ext cx="8271804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FUNDAMENTAÇÃO TEÓRICA</a:t>
            </a:r>
          </a:p>
        </p:txBody>
      </p:sp>
    </p:spTree>
    <p:extLst>
      <p:ext uri="{BB962C8B-B14F-4D97-AF65-F5344CB8AC3E}">
        <p14:creationId xmlns:p14="http://schemas.microsoft.com/office/powerpoint/2010/main" val="162042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8B06-2271-2106-A9C6-3079BFD7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E26CACB-CB47-C27C-BDC3-42CDDA680C73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FE16892-CB7B-89CD-F467-7D0BB9D49F78}"/>
              </a:ext>
            </a:extLst>
          </p:cNvPr>
          <p:cNvSpPr txBox="1"/>
          <p:nvPr/>
        </p:nvSpPr>
        <p:spPr>
          <a:xfrm>
            <a:off x="2039816" y="598469"/>
            <a:ext cx="9791114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METODOLOGIA DE DESENVOLVIMENTO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3947926-F79C-4F76-E7BB-3240B7780E11}"/>
              </a:ext>
            </a:extLst>
          </p:cNvPr>
          <p:cNvSpPr txBox="1"/>
          <p:nvPr/>
        </p:nvSpPr>
        <p:spPr>
          <a:xfrm>
            <a:off x="1742049" y="1911171"/>
            <a:ext cx="97911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PT" sz="2000" b="0" i="0" dirty="0">
              <a:solidFill>
                <a:srgbClr val="334155"/>
              </a:solidFill>
              <a:effectLst/>
              <a:latin typeface="Segoe UI" panose="020B050204020402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Coleta de Dados:</a:t>
            </a: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 Pesquisa bibliográfica, análise documental e observação direta dos fluxos de trabalho nas clínicas.</a:t>
            </a:r>
          </a:p>
          <a:p>
            <a:pPr algn="just"/>
            <a:endParaRPr lang="pt-PT" sz="2000" b="0" i="0" dirty="0">
              <a:solidFill>
                <a:srgbClr val="334155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8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4BE9-BCCF-BC37-5F98-004BD98A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848219A-28E6-F46D-4D4A-24B60F1242ED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917D3A7-049E-0864-A780-7776229D873C}"/>
              </a:ext>
            </a:extLst>
          </p:cNvPr>
          <p:cNvSpPr txBox="1"/>
          <p:nvPr/>
        </p:nvSpPr>
        <p:spPr>
          <a:xfrm>
            <a:off x="2039816" y="598469"/>
            <a:ext cx="919558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TECNOLOGIAS UTILIZADAS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072A9D-37E5-E4D4-A79E-DD7FFE83303F}"/>
              </a:ext>
            </a:extLst>
          </p:cNvPr>
          <p:cNvSpPr/>
          <p:nvPr/>
        </p:nvSpPr>
        <p:spPr>
          <a:xfrm>
            <a:off x="1237957" y="1832316"/>
            <a:ext cx="10954043" cy="31933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F89B36E-B5CE-E8AC-E3FA-A0DF0E16FF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23855" y="2328658"/>
            <a:ext cx="2600325" cy="242944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ABE2BF1-4C50-D5B5-484E-1DB77F569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74630" y="2328658"/>
            <a:ext cx="2733675" cy="242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03F0-397F-598F-2840-71E4AE93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24FE546-1B44-A99E-4AA3-4FDF80E323C6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3D0AF27-0B5B-4355-6554-1B56C9427F67}"/>
              </a:ext>
            </a:extLst>
          </p:cNvPr>
          <p:cNvSpPr txBox="1"/>
          <p:nvPr/>
        </p:nvSpPr>
        <p:spPr>
          <a:xfrm>
            <a:off x="2672863" y="2980159"/>
            <a:ext cx="749807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APRESENTAÇÃO DA APLICAÇÃO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FFAD1D0-96FF-8E76-AF02-BFBED051BA04}"/>
              </a:ext>
            </a:extLst>
          </p:cNvPr>
          <p:cNvSpPr/>
          <p:nvPr/>
        </p:nvSpPr>
        <p:spPr>
          <a:xfrm>
            <a:off x="10660967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2Righ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5616BC7-43BB-A274-7DF3-1F91AAA82233}"/>
              </a:ext>
            </a:extLst>
          </p:cNvPr>
          <p:cNvSpPr/>
          <p:nvPr/>
        </p:nvSpPr>
        <p:spPr>
          <a:xfrm>
            <a:off x="4626513" y="3882683"/>
            <a:ext cx="3590778" cy="942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36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SORRISO DIGITAL</a:t>
            </a:r>
          </a:p>
        </p:txBody>
      </p:sp>
    </p:spTree>
    <p:extLst>
      <p:ext uri="{BB962C8B-B14F-4D97-AF65-F5344CB8AC3E}">
        <p14:creationId xmlns:p14="http://schemas.microsoft.com/office/powerpoint/2010/main" val="7013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E927-B07C-5B3D-D484-CE0F606C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3F90F9F-E50A-487F-2A79-E0BA3702682D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BDFA1F1-E9B2-B7FF-D5D7-F384843AA7F0}"/>
              </a:ext>
            </a:extLst>
          </p:cNvPr>
          <p:cNvSpPr txBox="1"/>
          <p:nvPr/>
        </p:nvSpPr>
        <p:spPr>
          <a:xfrm>
            <a:off x="1725636" y="598469"/>
            <a:ext cx="9509760" cy="430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CONCLUSÃO E PERSPECTIVAS FUTURAS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4A5CEE-88C5-C197-DF7A-A4A1113F2599}"/>
              </a:ext>
            </a:extLst>
          </p:cNvPr>
          <p:cNvSpPr txBox="1"/>
          <p:nvPr/>
        </p:nvSpPr>
        <p:spPr>
          <a:xfrm>
            <a:off x="1725636" y="1324431"/>
            <a:ext cx="9875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O desenvolvimento do </a:t>
            </a:r>
            <a:r>
              <a:rPr lang="pt-PT" sz="2000" b="1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Sorriso Digital</a:t>
            </a: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 demonstrou o poder da transformação digital no setor odontológico. Os objetivos estabelecidos foram plenamente alcançados, comprovando que a substituição de métodos manuais por um ecossistema digital integrado eleva a qualidade assistencial e a governança clínica.</a:t>
            </a:r>
            <a:endParaRPr lang="pt-PT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C9CDF2-3D56-36B8-5465-58835E00C7E4}"/>
              </a:ext>
            </a:extLst>
          </p:cNvPr>
          <p:cNvSpPr txBox="1"/>
          <p:nvPr/>
        </p:nvSpPr>
        <p:spPr>
          <a:xfrm>
            <a:off x="4159347" y="3428999"/>
            <a:ext cx="70760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Integração com carteiras digitais e pagamentos eletrónicos.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Notificações automáticas via SMS.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PT" sz="2000" b="0" i="0" dirty="0" err="1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Teleodontologia</a:t>
            </a: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e consultas online.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Módulo de controlo de stock (farmácia/materiais).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Uso de Inteligência Artificial para apoio ao diagnóstico.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Autenticação por biometria / reconhecimento facial.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334155"/>
                </a:solidFill>
                <a:effectLst/>
                <a:latin typeface="Segoe UI" panose="020B0502040204020203" pitchFamily="34" charset="0"/>
              </a:rPr>
              <a:t> Assinatura digital válida para prescrições e documentos.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019765-DEDB-1DC5-EABA-DFDBA7E769B8}"/>
              </a:ext>
            </a:extLst>
          </p:cNvPr>
          <p:cNvSpPr txBox="1"/>
          <p:nvPr/>
        </p:nvSpPr>
        <p:spPr>
          <a:xfrm>
            <a:off x="4257821" y="2924991"/>
            <a:ext cx="3929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sz="2000" b="1" i="0" dirty="0">
                <a:solidFill>
                  <a:schemeClr val="accent1"/>
                </a:solidFill>
                <a:effectLst/>
                <a:latin typeface="Segoe UI" panose="020B0502040204020203" pitchFamily="34" charset="0"/>
              </a:rPr>
              <a:t>IMPLEMENTAÇÕES FUTURAS 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D67ADF7-BE3B-F9DB-A72C-48E2F758E9A5}"/>
              </a:ext>
            </a:extLst>
          </p:cNvPr>
          <p:cNvSpPr/>
          <p:nvPr/>
        </p:nvSpPr>
        <p:spPr>
          <a:xfrm>
            <a:off x="4046806" y="3367444"/>
            <a:ext cx="112541" cy="2308324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684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B0A8-2012-68C3-BF3A-DD583A1A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7F951EA-5197-8CED-18E7-231BF7CFBF74}"/>
              </a:ext>
            </a:extLst>
          </p:cNvPr>
          <p:cNvSpPr/>
          <p:nvPr/>
        </p:nvSpPr>
        <p:spPr>
          <a:xfrm>
            <a:off x="0" y="116058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1Lef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7D1FA6A-BA37-0C7B-8843-1CEFC998D1CC}"/>
              </a:ext>
            </a:extLst>
          </p:cNvPr>
          <p:cNvSpPr txBox="1"/>
          <p:nvPr/>
        </p:nvSpPr>
        <p:spPr>
          <a:xfrm>
            <a:off x="2035125" y="2487125"/>
            <a:ext cx="9509760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YIVUTIDI BENI MATONDO</a:t>
            </a:r>
          </a:p>
          <a:p>
            <a:pPr algn="ctr">
              <a:lnSpc>
                <a:spcPts val="3480"/>
              </a:lnSpc>
              <a:spcBef>
                <a:spcPct val="0"/>
              </a:spcBef>
            </a:pPr>
            <a:endParaRPr lang="en-US" sz="3600" b="1" dirty="0">
              <a:solidFill>
                <a:srgbClr val="0070C0"/>
              </a:solidFill>
              <a:latin typeface="Libre Baskerville Bold"/>
              <a:ea typeface="Libre Baskerville Bold"/>
              <a:cs typeface="Libre Baskerville Bold"/>
              <a:sym typeface="Libre Baskerville Bold"/>
            </a:endParaRPr>
          </a:p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“MUITO OBRIGADO”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CA68F2-8333-1C3C-1084-DC37E7A13C5B}"/>
              </a:ext>
            </a:extLst>
          </p:cNvPr>
          <p:cNvSpPr/>
          <p:nvPr/>
        </p:nvSpPr>
        <p:spPr>
          <a:xfrm>
            <a:off x="10682067" y="0"/>
            <a:ext cx="1725636" cy="662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63500"/>
          </a:effectLst>
          <a:scene3d>
            <a:camera prst="isometricOffAxis2Right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040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510</Words>
  <Application>Microsoft Office PowerPoint</Application>
  <PresentationFormat>Ecrã Panorâmico</PresentationFormat>
  <Paragraphs>63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Libre Baskerville Bold</vt:lpstr>
      <vt:lpstr>Segoe UI</vt:lpstr>
      <vt:lpstr>Trocchi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António Pio Macaia Tati</dc:creator>
  <cp:lastModifiedBy>António Pio Macaia Tati</cp:lastModifiedBy>
  <cp:revision>4</cp:revision>
  <dcterms:created xsi:type="dcterms:W3CDTF">2026-08-04T13:37:32Z</dcterms:created>
  <dcterms:modified xsi:type="dcterms:W3CDTF">2026-10-22T06:26:56Z</dcterms:modified>
</cp:coreProperties>
</file>